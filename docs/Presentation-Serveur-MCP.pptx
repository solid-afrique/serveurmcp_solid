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de la présentation : expliquer ce que permet le Serveur MCP, comment il s’utilise au quotidien et comment l’accès aux données reste maîtrisé.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Partir des situations vécues : « combien avons-nous vendu à tel client ce mois-ci ? » nécessite aujourd’hui une demande ou une extraction manuelle.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MCP (Model Context Protocol) est un standard ouvert adopté par les principaux assistants d’IA. Nous ne dépendons donc pas d’un seul fournisseur.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L’assistant explore d’abord la structure de la base, puis construit lui-même les requêtes. L’utilisateur peut demander à voir le détail du calcul.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Une question en langage courant, une réponse structurée et commentée. L’utilisateur peut enchaîner : « Montre-moi le détail du client C par produit 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service informatique reste maître des bases ouvertes et des droits ; il est libéré des demandes d’extraction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de vigilance à présenter honnêtement : pour répondre, l’assistant reçoit le résultat des requêtes. Le choix des bases ouvertes et des comptes lecteurs (qui limitent les colonnes visibles) en tient compte.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rôle d’administrateur est attribué à quelques personnes de l’équipe informatique. Un collaborateur peut aussi déclarer une base dont il possède lui-même les accès ; elle reste privée.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Vue d’ensemble : seule la première étape revient à l’administrateur. Les diapositives suivantes détaillent chaque étape avec les écrans réels.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Aucune inscription libre : seul un administrateur peut créer un compte. Sans attribution de base, le collaborateur verra une liste 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même mécanisme sert à réinitialiser un mot de passe oublié : l’administrateur envoie un lien de réinitialisation.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lien MCP n’est pas un secret : sans l’autorisation que chaque utilisateur donne avec son compte (étape 5), il ne donne accès à rien.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et ChatGPT : chaque collaborateur colle lui-même le lien. Copilot : l’agent est préparé une fois par l’administrateur dans Copilot Studio, puis chaque collaborateur autorise son propre compte.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droits sont vérifiés à chaque question : si l’administrateur retire l’accès à une base, l’assistant ne peut plus l’interroger.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Adapter les étapes et le calendrier à la décision de la direction. La solution est en service sur le serveur IIS ; les étapes suivantes portent sur le raccordement des bases et l’accompagnement des utilisateurs.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75B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Serveur MCP · SOLID Afrique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75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185A88"/>
          </a:solidFill>
          <a:ln w="12700">
            <a:solidFill>
              <a:srgbClr val="185A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BBD6E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SOLID AFRIQUE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Interrogez nos données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avec l’intelligence artificielle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DEB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Serveur MCP : un accès simple et sécurisé à nos bases de données depuis Microsoft Copilot, Claude et ChatGPT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806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Présentation de la solution — octobre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constat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Nos données sont précieuses, mais difficiles à consulter rapidement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 données dispersées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Ventes, stock, comptabilité, ressources humaines… chaque activité a sa propre base de données.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2194560"/>
            <a:ext cx="566928" cy="566928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99432" y="29260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accès réservé aux spécialistes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99432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obtenir un chiffre, il faut savoir écrire des requêtes ou passer par l’équipe informatique.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75904" y="2194560"/>
            <a:ext cx="566928" cy="566928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75904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5904" y="29260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Des délais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75904" y="384048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question simple peut attendre un rapport ou un export pendant plusieurs jours.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Notre solution : le Serveur MCP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554480"/>
          </a:xfrm>
          <a:prstGeom prst="roundRect">
            <a:avLst>
              <a:gd name="adj" fmla="val 8824"/>
            </a:avLst>
          </a:prstGeom>
          <a:solidFill>
            <a:srgbClr val="E8F2F9"/>
          </a:solidFill>
          <a:ln w="12700">
            <a:solidFill>
              <a:srgbClr val="E8F2F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pont sécurisé entre nos bases de données et les assistants d’IA</a:t>
            </a:r>
            <a:endParaRPr lang="en-US" sz="24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Vous posez votre question en français ; l’assistant va chercher la réponse directement dans nos bases.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Fonctionne avec les assistants que nous utilisons déjà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2340864" cy="457200"/>
          </a:xfrm>
          <a:prstGeom prst="roundRect">
            <a:avLst>
              <a:gd name="adj" fmla="val 50000"/>
            </a:avLst>
          </a:prstGeom>
          <a:solidFill>
            <a:srgbClr val="E8F2F9"/>
          </a:solidFill>
          <a:ln w="12700">
            <a:solidFill>
              <a:srgbClr val="E8F2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84048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Copilot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72384" y="3840480"/>
            <a:ext cx="1033272" cy="457200"/>
          </a:xfrm>
          <a:prstGeom prst="roundRect">
            <a:avLst>
              <a:gd name="adj" fmla="val 50000"/>
            </a:avLst>
          </a:prstGeom>
          <a:solidFill>
            <a:srgbClr val="E8F2F9"/>
          </a:solidFill>
          <a:ln w="12700">
            <a:solidFill>
              <a:srgbClr val="E8F2F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72384" y="3840480"/>
            <a:ext cx="1033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Claude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88536" y="384048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E8F2F9"/>
          </a:solidFill>
          <a:ln w="12700">
            <a:solidFill>
              <a:srgbClr val="E8F2F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88536" y="384048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ChatGPT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23560" y="3840480"/>
            <a:ext cx="1033272" cy="457200"/>
          </a:xfrm>
          <a:prstGeom prst="roundRect">
            <a:avLst>
              <a:gd name="adj" fmla="val 50000"/>
            </a:avLst>
          </a:prstGeom>
          <a:solidFill>
            <a:srgbClr val="E8F2F9"/>
          </a:solidFill>
          <a:ln w="12700">
            <a:solidFill>
              <a:srgbClr val="E8F2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3840480"/>
            <a:ext cx="1033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Cursor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39712" y="3840480"/>
            <a:ext cx="3648456" cy="457200"/>
          </a:xfrm>
          <a:prstGeom prst="roundRect">
            <a:avLst>
              <a:gd name="adj" fmla="val 50000"/>
            </a:avLst>
          </a:prstGeom>
          <a:solidFill>
            <a:srgbClr val="E8F2F9"/>
          </a:solidFill>
          <a:ln w="12700">
            <a:solidFill>
              <a:srgbClr val="E8F2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9712" y="3840480"/>
            <a:ext cx="3648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et autres outils compatibles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Et avec nos bases de données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8640" y="51206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20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MySQL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645920" y="51206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45920" y="5120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37560" y="51206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512064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029200" y="512064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5120640"/>
            <a:ext cx="11521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MongoDB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64224" y="5120640"/>
            <a:ext cx="914400" cy="457200"/>
          </a:xfrm>
          <a:prstGeom prst="roundRect">
            <a:avLst>
              <a:gd name="adj" fmla="val 50000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64224" y="51206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Redis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Comment ça marche 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Trois étapes, sans compétence technique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566928" cy="566928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Vous posez une question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 Quel est le chiffre d’affaires par agence ce trimestre ? »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950208" y="3474720"/>
            <a:ext cx="457200" cy="365760"/>
          </a:xfrm>
          <a:prstGeom prst="rightArrow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92024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2194560"/>
            <a:ext cx="566928" cy="566928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00600" y="29260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L’assistant consulte la base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80060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passe par le Serveur MCP, qui vérifie vos droits avant chaque consultation.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27848" y="3474720"/>
            <a:ext cx="457200" cy="365760"/>
          </a:xfrm>
          <a:prstGeom prst="rightArrow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1920240"/>
            <a:ext cx="3291840" cy="3474720"/>
          </a:xfrm>
          <a:prstGeom prst="roundRect">
            <a:avLst>
              <a:gd name="adj" fmla="val 3333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78240" y="2194560"/>
            <a:ext cx="566928" cy="566928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778240" y="292608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Vous obtenez la réponse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778240" y="384048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Tableau, synthèse, comparaison ou graphique, en quelques secondes.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 exemple concret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0" y="1371600"/>
            <a:ext cx="6858000" cy="777240"/>
          </a:xfrm>
          <a:prstGeom prst="roundRect">
            <a:avLst>
              <a:gd name="adj" fmla="val 23529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937760" y="1371600"/>
            <a:ext cx="6492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Quels sont nos 5 meilleurs clients ce trimestre, et leur évolution par rapport à l’an dernier 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8412480" cy="3611880"/>
          </a:xfrm>
          <a:prstGeom prst="roundRect">
            <a:avLst>
              <a:gd name="adj" fmla="val 3797"/>
            </a:avLst>
          </a:prstGeom>
          <a:solidFill>
            <a:srgbClr val="F3F7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603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Voici les 5 meilleurs clients du 3e trimestre 2026 :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017520"/>
          <a:ext cx="79552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237744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Client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CA T3 2026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Évolution</a:t>
                      </a:r>
                      <a:endParaRPr lang="en-US" sz="14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48,2 M FCFA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7A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+12 %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B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41,7 M FCFA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7A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+4 %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C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35,9 M FCFA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B4231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−3 %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D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29,4 M FCFA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7A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+21 %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E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27,1 M FCFA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0F7A3D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+8 %</a:t>
                      </a:r>
                      <a:endParaRPr lang="en-US" sz="14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77240" y="53949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client D progresse le plus (+21 %), le client C recule légèrement.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0" y="5669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Exemple illustratif — données fictives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Ce que ça nous apporte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Autonomie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2304288"/>
            <a:ext cx="4892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Chacun obtient lui-même les chiffres dont il a besoin, sans écrire de requête.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73152" cy="1645920"/>
          </a:xfrm>
          <a:prstGeom prst="rect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73736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Rapidité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46520" y="2304288"/>
            <a:ext cx="4892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réponse en quelques secondes au lieu d’attendre un rapport.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2200" y="1691640"/>
            <a:ext cx="73152" cy="1645920"/>
          </a:xfrm>
          <a:prstGeom prst="rect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690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Une seule porte d’entrée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4636008"/>
            <a:ext cx="4892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Toutes nos bases, quel que soit leur type, accessibles de la même façon.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73152" cy="1645920"/>
          </a:xfrm>
          <a:prstGeom prst="rect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379476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406908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Liberté de choix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446520" y="4636008"/>
            <a:ext cx="489204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Compatible avec plusieurs assistants : nous ne dépendons pas d’un fournisseur unique.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2200" y="4023360"/>
            <a:ext cx="73152" cy="1645920"/>
          </a:xfrm>
          <a:prstGeom prst="rect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Sécurité et contrôle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L’accès aux données reste entièrement maîtrisé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764792"/>
            <a:ext cx="384048" cy="384048"/>
          </a:xfrm>
          <a:prstGeom prst="ellipse">
            <a:avLst/>
          </a:prstGeom>
          <a:solidFill>
            <a:srgbClr val="0F7A3D"/>
          </a:solidFill>
          <a:ln w="12700">
            <a:solidFill>
              <a:srgbClr val="0F7A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764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69164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Chacun avec son propre compte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L’assistant agit au nom de la personne, avec ses droits, après son autorisation explicite.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551176"/>
            <a:ext cx="384048" cy="384048"/>
          </a:xfrm>
          <a:prstGeom prst="ellipse">
            <a:avLst/>
          </a:prstGeom>
          <a:solidFill>
            <a:srgbClr val="0F7A3D"/>
          </a:solidFill>
          <a:ln w="12700">
            <a:solidFill>
              <a:srgbClr val="0F7A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551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2478024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L’administrateur décide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 a accès à quelle base de données ; personne ne peut s’inscrire seul.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384048" cy="384048"/>
          </a:xfrm>
          <a:prstGeom prst="ellipse">
            <a:avLst/>
          </a:prstGeom>
          <a:solidFill>
            <a:srgbClr val="0F7A3D"/>
          </a:solidFill>
          <a:ln w="12700">
            <a:solidFill>
              <a:srgbClr val="0F7A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337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64408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Lecture seule par défaut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L’assistant consulte les données mais ne peut pas les modifier.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4123944"/>
            <a:ext cx="384048" cy="384048"/>
          </a:xfrm>
          <a:prstGeom prst="ellipse">
            <a:avLst/>
          </a:prstGeom>
          <a:solidFill>
            <a:srgbClr val="0F7A3D"/>
          </a:solidFill>
          <a:ln w="12700">
            <a:solidFill>
              <a:srgbClr val="0F7A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23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40507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Accès retiré immédiatement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Retirer un droit ou désactiver un compte prend effet à la question suivante.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4360" y="4910328"/>
            <a:ext cx="384048" cy="384048"/>
          </a:xfrm>
          <a:prstGeom prst="ellipse">
            <a:avLst/>
          </a:prstGeom>
          <a:solidFill>
            <a:srgbClr val="0F7A3D"/>
          </a:solidFill>
          <a:ln w="12700">
            <a:solidFill>
              <a:srgbClr val="0F7A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910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837176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Nos bases restent chez nous —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Elles ne sont pas exposées sur Internet ; les mots de passe sont chiffrés.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FFF6E0"/>
          </a:solidFill>
          <a:ln w="12700">
            <a:solidFill>
              <a:srgbClr val="FFF6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69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À retenir : les réponses transitent par l’assistant utilisé. Nous n’utilisons que des assistants validés par l’entreprise, avec des comptes professionnels.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Qui fait quoi 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663440"/>
          </a:xfrm>
          <a:prstGeom prst="roundRect">
            <a:avLst>
              <a:gd name="adj" fmla="val 2941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440680" cy="822960"/>
          </a:xfrm>
          <a:prstGeom prst="roundRect">
            <a:avLst>
              <a:gd name="adj" fmla="val 16667"/>
            </a:avLst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Administrateur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Invite les collaborateurs (envoi automatique par e-mail)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Déclare les bases de données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 et publie les agents Copilot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Décide qui accède à quelle base, et peut retirer un accès à tout moment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72200" y="1371600"/>
            <a:ext cx="5440680" cy="4663440"/>
          </a:xfrm>
          <a:prstGeom prst="roundRect">
            <a:avLst>
              <a:gd name="adj" fmla="val 2941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72200" y="1371600"/>
            <a:ext cx="5440680" cy="822960"/>
          </a:xfrm>
          <a:prstGeom prst="roundRect">
            <a:avLst>
              <a:gd name="adj" fmla="val 16667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37160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Collaborateur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46520" y="237744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son compte depuis l’e-mail reçu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Ouvre l’agent de sa base dans Copilot et autorise son compte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Pose ses questions en français</a:t>
            </a:r>
            <a:endParaRPr lang="en-US" sz="16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Gère ses autorisations depuis « Mon compte »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parcours d’un nouvel utilisateur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l’invitation à la première question, en cinq étapes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29968"/>
            <a:ext cx="548640" cy="54864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Administrateur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Envoie l’invitation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Saisit l’e-mail du collaborateur : le lien d’invitation part automatiquement.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78608" y="3291840"/>
            <a:ext cx="219456" cy="274320"/>
          </a:xfrm>
          <a:prstGeom prst="rightArrow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1780" y="182880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94660" y="2029968"/>
            <a:ext cx="548640" cy="54864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466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994660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Collaborateur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94660" y="299923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Crée son mot de passe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4660" y="37490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Ouvre le lien reçu par e-mail et choisit son mot de passe.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1748" y="3291840"/>
            <a:ext cx="219456" cy="274320"/>
          </a:xfrm>
          <a:prstGeom prst="rightArrow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74920" y="182880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2029968"/>
            <a:ext cx="548640" cy="54864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57800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Collaborateur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99923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 connecte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57800" y="37490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 https://luxewtey.com/mcpsolid, avec son e-mail et son mot de passe.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04888" y="3291840"/>
            <a:ext cx="219456" cy="274320"/>
          </a:xfrm>
          <a:prstGeom prst="rightArrow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8060" y="182880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20940" y="2029968"/>
            <a:ext cx="548640" cy="54864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2094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520940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Collaborateur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20940" y="299923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Copie son lien MCP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520940" y="37490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lien de chaque base que l’administrateur lui a attribuée.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368028" y="3291840"/>
            <a:ext cx="219456" cy="274320"/>
          </a:xfrm>
          <a:prstGeom prst="rightArrow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01200" y="1828800"/>
            <a:ext cx="2011680" cy="3291840"/>
          </a:xfrm>
          <a:prstGeom prst="roundRect">
            <a:avLst>
              <a:gd name="adj" fmla="val 5455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784080" y="2029968"/>
            <a:ext cx="548640" cy="54864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784080" y="202996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9784080" y="26974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Collaborateur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84080" y="299923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Branche son assistant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784080" y="374904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 le lien dans Claude, ChatGPT ou Copilot, puis clique sur « Autoriser ».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Ensuite, il pose ses questions en français, directement dans son assistant. Les étapes 1 à 4 ne se font qu’une fois.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 1 — L’administrateur envoie l’invitation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281160" y="1197864"/>
            <a:ext cx="365760" cy="36576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81160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56648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6648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32136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32136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07624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07624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183112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23B5C"/>
          </a:solidFill>
          <a:ln w="12700">
            <a:solidFill>
              <a:srgbClr val="123B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188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L’administrateur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1792224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l’onglet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Utilisateurs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il saisit l’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e-mail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du collaborateur (et son nom).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615184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clique sur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Créer et envoyer l’invitation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: le lien part automatiquement par e-mail.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438144"/>
            <a:ext cx="45262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lui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attribue les bases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dont il a besoin (Connexions →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Gérer l’accès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52744" y="1792224"/>
            <a:ext cx="5650992" cy="2931219"/>
          </a:xfrm>
          <a:prstGeom prst="roundRect">
            <a:avLst>
              <a:gd name="adj" fmla="val 1872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pic>
        <p:nvPicPr>
          <p:cNvPr id="25" name="Image 0" descr="C:\projets\serveurMCP\docs\source\img\p-invitation-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28800"/>
            <a:ext cx="5577840" cy="2858067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989320" y="4741731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message vert confirme l’envoi de l’e-mail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544068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FFF6E0"/>
          </a:solidFill>
          <a:ln w="12700">
            <a:solidFill>
              <a:srgbClr val="FFF6E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54406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 l’e-mail n’arrive pas, « Afficher le lien » permet de le transmettre autrement (messagerie interne). Le lien est valable 7 jours.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 2 — Le collaborateur crée son mot de passe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281160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81160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56648" y="1197864"/>
            <a:ext cx="365760" cy="36576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6648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32136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32136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07624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07624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183112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188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collaborateur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1792224"/>
            <a:ext cx="434340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reçoit l’e-mail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 Votre invitation au Serveur MCP »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615184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clique sur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Activer mon compte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21868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163824"/>
            <a:ext cx="434340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choisit son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mot de passe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(10 caractères minimum), le confirme, puis valide : son compte est actif et il est connecté.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632704" y="1563624"/>
            <a:ext cx="3319272" cy="3191136"/>
          </a:xfrm>
          <a:prstGeom prst="roundRect">
            <a:avLst>
              <a:gd name="adj" fmla="val 1719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pic>
        <p:nvPicPr>
          <p:cNvPr id="25" name="Image 0" descr="C:\projets\serveurMCP\docs\source\img\02-email-invit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00200"/>
            <a:ext cx="3246120" cy="3117984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669280" y="4773048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L’e-mail reçu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9107424" y="2020824"/>
            <a:ext cx="2587752" cy="2254822"/>
          </a:xfrm>
          <a:prstGeom prst="roundRect">
            <a:avLst>
              <a:gd name="adj" fmla="val 2433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pic>
        <p:nvPicPr>
          <p:cNvPr id="28" name="Image 1" descr="C:\projets\serveurMCP\docs\source\img\03-activ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57400"/>
            <a:ext cx="2514600" cy="218167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9144000" y="4293934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choix du mot de passe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FFF6E0"/>
          </a:solidFill>
          <a:ln w="12700">
            <a:solidFill>
              <a:srgbClr val="FFF6E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31520" y="54864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4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lien est personnel et ne sert qu’une fois. S’il a expiré, l’administrateur clique sur « Renvoyer l’invitation 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Étapes 3 et 4 — Se connecter et copier son lien MCP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281160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81160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56648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6648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32136" y="1197864"/>
            <a:ext cx="365760" cy="36576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32136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07624" y="1197864"/>
            <a:ext cx="365760" cy="36576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07624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183112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188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collaborateur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179222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ouvre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https://luxewtey.com/mcpsolid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et se connecte avec son e-mail et son mot de passe.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615184"/>
            <a:ext cx="461772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Mes connexions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chaque base attribuée a son propre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lien MCP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 : il clique sur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Copier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438144"/>
            <a:ext cx="461772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Une base manque ? Il demande à l’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administrateur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la lui attribuer : elle apparaît aussitôt dans la liste, avec son lien.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52744" y="1792224"/>
            <a:ext cx="5650992" cy="2011215"/>
          </a:xfrm>
          <a:prstGeom prst="roundRect">
            <a:avLst>
              <a:gd name="adj" fmla="val 2728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pic>
        <p:nvPicPr>
          <p:cNvPr id="25" name="Image 0" descr="C:\projets\serveurMCP\docs\source\img\p-lien-m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828800"/>
            <a:ext cx="5577840" cy="1938063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989320" y="3821727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lien MCP de la base et son bouton « Copier »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952744" y="4123944"/>
            <a:ext cx="1764792" cy="1738442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pic>
        <p:nvPicPr>
          <p:cNvPr id="28" name="Image 1" descr="C:\projets\serveurMCP\docs\source\img\01-connex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4160520"/>
            <a:ext cx="1691640" cy="166529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863840" y="434340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page de connexion du serveur : un seul compte pour l’interface et pour les assistants.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 5 — Brancher son assistant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281160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81160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56648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6648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32136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32136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07624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07624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183112" y="1197864"/>
            <a:ext cx="365760" cy="36576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188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collaborateur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8288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182880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1828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Claude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77240" y="262432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624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256946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Paramètres → Connecteurs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77240" y="317296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172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118104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Ajouter un connecteur personnalisé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77240" y="399592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94106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Coller le lien MCP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77240" y="454456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280160" y="448970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Cliquer sur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 connecter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297680" y="18288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182880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26280" y="1828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ChatGPT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526280" y="262432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2624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0" y="2569464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Paramètres → Applications et connecteurs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(mode développeur)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4526280" y="344728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26280" y="34472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0" y="339242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Cliquer sur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Créer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4526280" y="399592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3995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029200" y="3941064"/>
            <a:ext cx="269748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Coller le lien MCP, authentification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OAuth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8046720" y="18288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3F7FA"/>
          </a:solidFill>
          <a:ln w="12700">
            <a:solidFill>
              <a:srgbClr val="F3F7F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046720" y="1828800"/>
            <a:ext cx="3566160" cy="566928"/>
          </a:xfrm>
          <a:prstGeom prst="roundRect">
            <a:avLst>
              <a:gd name="adj" fmla="val 19355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75320" y="182880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Microsoft Copilot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275320" y="262432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75320" y="2624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8778240" y="2569464"/>
            <a:ext cx="269748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Ouvrir l’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agent de la base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publié par l’entreprise dans Copilot ou Teams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8275320" y="372160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7532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778240" y="366674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Poser une première question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8275320" y="427024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75320" y="4270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778240" y="4215384"/>
            <a:ext cx="26974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Cliquer sur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 connecter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548640" y="5303520"/>
            <a:ext cx="11064240" cy="502920"/>
          </a:xfrm>
          <a:prstGeom prst="roundRect">
            <a:avLst>
              <a:gd name="adj" fmla="val 18182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530352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7A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Dans les trois cas, la page du Serveur MCP s’ouvre : il se connecte avec son compte et clique sur « Autoriser ».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5870448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Pour Copilot, l’administrateur crée l’agent une seule fois dans Copilot Studio avec le lien MCP de la base (voir le guide utilisateur).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Autoriser, puis poser ses questions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281160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281160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756648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56648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232136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32136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0707624" y="1197864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07624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183112" y="1197864"/>
            <a:ext cx="365760" cy="365760"/>
          </a:xfrm>
          <a:prstGeom prst="ellipse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3112" y="1197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1188720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18872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 collaborateur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184708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847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1792224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L’écran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Autoriser l’accès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indique l’assistant, la base et le compte utilisés : il clique sur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Autoriser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267004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700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615184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 retour dans son assistant, il pose ses questions : « Quelles sont nos ventes du mois par agence ? »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365760" cy="365760"/>
          </a:xfrm>
          <a:prstGeom prst="ellipse">
            <a:avLst/>
          </a:prstGeom>
          <a:solidFill>
            <a:srgbClr val="E8F2F9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175B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51560" y="3438144"/>
            <a:ext cx="516636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Il peut retirer cette autorisation à tout moment depuis </a:t>
            </a:r>
            <a:pPr indent="0" marL="0">
              <a:buNone/>
            </a:pPr>
            <a:r>
              <a:rPr lang="en-US" sz="15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Mon compte</a:t>
            </a:r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12864" y="1563624"/>
            <a:ext cx="4279392" cy="3807664"/>
          </a:xfrm>
          <a:prstGeom prst="roundRect">
            <a:avLst>
              <a:gd name="adj" fmla="val 1441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pic>
        <p:nvPicPr>
          <p:cNvPr id="25" name="Image 0" descr="C:\projets\serveurMCP\docs\source\img\08-autor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600200"/>
            <a:ext cx="4206240" cy="373451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949440" y="538957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L’écran d’autorisation : l’utilisateur garde la main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48640" y="4480560"/>
            <a:ext cx="5669280" cy="822960"/>
          </a:xfrm>
          <a:prstGeom prst="roundRect">
            <a:avLst>
              <a:gd name="adj" fmla="val 11111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48056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L’assistant n’accède qu’aux bases autorisées pour ce collaborateur, en lecture seule le plus souvent.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Prochaines étapes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822960"/>
          </a:xfrm>
          <a:prstGeom prst="chevron">
            <a:avLst/>
          </a:prstGeom>
          <a:solidFill>
            <a:srgbClr val="2175B0"/>
          </a:solidFill>
          <a:ln w="12700">
            <a:solidFill>
              <a:srgbClr val="2175B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Mise en service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Installation sur notre serveur Windows (IIS)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364992" y="1737360"/>
            <a:ext cx="2606040" cy="822960"/>
          </a:xfrm>
          <a:prstGeom prst="chevron">
            <a:avLst/>
          </a:prstGeom>
          <a:solidFill>
            <a:srgbClr val="BBD6EB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 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64992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Premières bases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364992" y="33832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Raccordement des bases prioritaires, en lecture seule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81344" y="1737360"/>
            <a:ext cx="2606040" cy="822960"/>
          </a:xfrm>
          <a:prstGeom prst="chevron">
            <a:avLst/>
          </a:prstGeom>
          <a:solidFill>
            <a:srgbClr val="BBD6EB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81344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 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81344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Pilote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181344" y="33832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groupe de collaborateurs volontaires et leurs retours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97696" y="1737360"/>
            <a:ext cx="2606040" cy="822960"/>
          </a:xfrm>
          <a:prstGeom prst="chevron">
            <a:avLst/>
          </a:prstGeom>
          <a:solidFill>
            <a:srgbClr val="BBD6EB"/>
          </a:solidFill>
          <a:ln w="12700">
            <a:solidFill>
              <a:srgbClr val="BBD6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97696" y="173736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Étape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97696" y="283464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23B5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Généralisation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997696" y="3383280"/>
            <a:ext cx="2606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Formation, guide utilisateur et ouverture progressive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029200"/>
            <a:ext cx="11064240" cy="822960"/>
          </a:xfrm>
          <a:prstGeom prst="roundRect">
            <a:avLst>
              <a:gd name="adj" fmla="val 13333"/>
            </a:avLst>
          </a:prstGeom>
          <a:solidFill>
            <a:srgbClr val="E6F6EC"/>
          </a:solidFill>
          <a:ln w="12700">
            <a:solidFill>
              <a:srgbClr val="E6F6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029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A3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 solution est installée sur notre serveur et déjà opérationnelle.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Segoe UI"/>
                <a:ea typeface="Segoe UI"/>
                <a:cs typeface="Segoe U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75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031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Merci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DEB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et échanges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Adresse du service : https://luxewtey.com/mcpsolid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BD6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disponibles : guide utilisateur et documentation technique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SOLID Afrique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Serveur MCP — Interrogez nos données avec l’IA</dc:title>
  <dc:subject>PptxGenJS Presentation</dc:subject>
  <dc:creator>SOLID Afrique</dc:creator>
  <cp:lastModifiedBy>SOLID Afrique</cp:lastModifiedBy>
  <cp:revision>1</cp:revision>
  <dcterms:created xsi:type="dcterms:W3CDTF">2026-10-12T15:15:41Z</dcterms:created>
  <dcterms:modified xsi:type="dcterms:W3CDTF">2026-10-12T15:15:41Z</dcterms:modified>
</cp:coreProperties>
</file>